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790700"/>
            <a:ext cx="666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2038350"/>
            <a:ext cx="723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762000" y="3028950"/>
            <a:ext cx="742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0D9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the big picture, to the code, to production.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2000" y="390525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580" dirty="0">
                <a:solidFill>
                  <a:srgbClr val="D8C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 · The big picture</a:t>
            </a:r>
            <a:endParaRPr lang="en-US" sz="1580" dirty="0"/>
          </a:p>
          <a:p>
            <a:pPr indent="0" marL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580" dirty="0">
                <a:solidFill>
                  <a:srgbClr val="D8C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 · Tech and code</a:t>
            </a:r>
            <a:endParaRPr lang="en-US" sz="1580" dirty="0"/>
          </a:p>
          <a:p>
            <a:pPr indent="0" marL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580" dirty="0">
                <a:solidFill>
                  <a:srgbClr val="D8C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 · Production</a:t>
            </a:r>
            <a:endParaRPr lang="en-US" sz="1580" dirty="0"/>
          </a:p>
        </p:txBody>
      </p:sp>
      <p:sp>
        <p:nvSpPr>
          <p:cNvPr id="6" name="Text 4"/>
          <p:cNvSpPr/>
          <p:nvPr/>
        </p:nvSpPr>
        <p:spPr>
          <a:xfrm>
            <a:off x="8763000" y="1762125"/>
            <a:ext cx="666750" cy="666750"/>
          </a:xfrm>
          <a:prstGeom prst="rect">
            <a:avLst/>
          </a:prstGeom>
          <a:solidFill>
            <a:srgbClr val="F0D9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12E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♜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429750" y="1762125"/>
            <a:ext cx="666750" cy="666750"/>
          </a:xfrm>
          <a:prstGeom prst="rect">
            <a:avLst/>
          </a:prstGeom>
          <a:solidFill>
            <a:srgbClr val="B588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12E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♞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096500" y="1762125"/>
            <a:ext cx="666750" cy="666750"/>
          </a:xfrm>
          <a:prstGeom prst="rect">
            <a:avLst/>
          </a:prstGeom>
          <a:solidFill>
            <a:srgbClr val="F0D9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12E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♝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763250" y="1762125"/>
            <a:ext cx="666750" cy="666750"/>
          </a:xfrm>
          <a:prstGeom prst="rect">
            <a:avLst/>
          </a:prstGeom>
          <a:solidFill>
            <a:srgbClr val="B588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12E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763000" y="2428875"/>
            <a:ext cx="666750" cy="666750"/>
          </a:xfrm>
          <a:prstGeom prst="rect">
            <a:avLst/>
          </a:prstGeom>
          <a:solidFill>
            <a:srgbClr val="B588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12E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9429750" y="2428875"/>
            <a:ext cx="666750" cy="666750"/>
          </a:xfrm>
          <a:prstGeom prst="rect">
            <a:avLst/>
          </a:prstGeom>
          <a:solidFill>
            <a:srgbClr val="F0D9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12E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096500" y="2428875"/>
            <a:ext cx="666750" cy="666750"/>
          </a:xfrm>
          <a:prstGeom prst="rect">
            <a:avLst/>
          </a:prstGeom>
          <a:solidFill>
            <a:srgbClr val="B588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12E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0763250" y="2428875"/>
            <a:ext cx="666750" cy="666750"/>
          </a:xfrm>
          <a:prstGeom prst="rect">
            <a:avLst/>
          </a:prstGeom>
          <a:solidFill>
            <a:srgbClr val="F0D9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12E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763000" y="3095625"/>
            <a:ext cx="666750" cy="666750"/>
          </a:xfrm>
          <a:prstGeom prst="rect">
            <a:avLst/>
          </a:prstGeom>
          <a:solidFill>
            <a:srgbClr val="F0D9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429750" y="3095625"/>
            <a:ext cx="666750" cy="666750"/>
          </a:xfrm>
          <a:prstGeom prst="rect">
            <a:avLst/>
          </a:prstGeom>
          <a:solidFill>
            <a:srgbClr val="B588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0096500" y="3095625"/>
            <a:ext cx="666750" cy="666750"/>
          </a:xfrm>
          <a:prstGeom prst="rect">
            <a:avLst/>
          </a:prstGeom>
          <a:solidFill>
            <a:srgbClr val="F0D9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0763250" y="3095625"/>
            <a:ext cx="666750" cy="666750"/>
          </a:xfrm>
          <a:prstGeom prst="rect">
            <a:avLst/>
          </a:prstGeom>
          <a:solidFill>
            <a:srgbClr val="B588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763000" y="3762375"/>
            <a:ext cx="666750" cy="666750"/>
          </a:xfrm>
          <a:prstGeom prst="rect">
            <a:avLst/>
          </a:prstGeom>
          <a:solidFill>
            <a:srgbClr val="B588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12E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♙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429750" y="3762375"/>
            <a:ext cx="666750" cy="666750"/>
          </a:xfrm>
          <a:prstGeom prst="rect">
            <a:avLst/>
          </a:prstGeom>
          <a:solidFill>
            <a:srgbClr val="F0D9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12E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♙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0096500" y="3762375"/>
            <a:ext cx="666750" cy="666750"/>
          </a:xfrm>
          <a:prstGeom prst="rect">
            <a:avLst/>
          </a:prstGeom>
          <a:solidFill>
            <a:srgbClr val="B588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12E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♙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0763250" y="3762375"/>
            <a:ext cx="666750" cy="666750"/>
          </a:xfrm>
          <a:prstGeom prst="rect">
            <a:avLst/>
          </a:prstGeom>
          <a:solidFill>
            <a:srgbClr val="F0D9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12E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♙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763000" y="4429125"/>
            <a:ext cx="666750" cy="666750"/>
          </a:xfrm>
          <a:prstGeom prst="rect">
            <a:avLst/>
          </a:prstGeom>
          <a:solidFill>
            <a:srgbClr val="F0D9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12E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♖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429750" y="4429125"/>
            <a:ext cx="666750" cy="666750"/>
          </a:xfrm>
          <a:prstGeom prst="rect">
            <a:avLst/>
          </a:prstGeom>
          <a:solidFill>
            <a:srgbClr val="B588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12E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♘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10096500" y="4429125"/>
            <a:ext cx="666750" cy="666750"/>
          </a:xfrm>
          <a:prstGeom prst="rect">
            <a:avLst/>
          </a:prstGeom>
          <a:solidFill>
            <a:srgbClr val="F0D9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12E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♗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10763250" y="4429125"/>
            <a:ext cx="666750" cy="666750"/>
          </a:xfrm>
          <a:prstGeom prst="rect">
            <a:avLst/>
          </a:prstGeom>
          <a:solidFill>
            <a:srgbClr val="B588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12E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♕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SESSION 1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homework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06680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up the dev environment: the DEV half of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docs/setup.md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(WSL2, Docker, dev container, Node 24)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 native rebuild,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green is the first goal.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skim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docs/design.md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Full understanding is not expected yet.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 the app: a game against LorFish, a PvP game in two browsers, a puzzle, a game review</a:t>
            </a:r>
            <a:endParaRPr lang="en-US" sz="1880" dirty="0"/>
          </a:p>
        </p:txBody>
      </p:sp>
      <p:sp>
        <p:nvSpPr>
          <p:cNvPr id="5" name="Shape 3"/>
          <p:cNvSpPr/>
          <p:nvPr/>
        </p:nvSpPr>
        <p:spPr>
          <a:xfrm>
            <a:off x="762000" y="5619750"/>
            <a:ext cx="10668000" cy="571500"/>
          </a:xfrm>
          <a:prstGeom prst="roundRect">
            <a:avLst>
              <a:gd name="adj" fmla="val 16667"/>
            </a:avLst>
          </a:prstGeom>
          <a:solidFill>
            <a:srgbClr val="F0D9B5"/>
          </a:solidFill>
          <a:ln/>
        </p:spPr>
      </p:sp>
      <p:sp>
        <p:nvSpPr>
          <p:cNvPr id="6" name="Text 4"/>
          <p:cNvSpPr/>
          <p:nvPr/>
        </p:nvSpPr>
        <p:spPr>
          <a:xfrm>
            <a:off x="971550" y="5753100"/>
            <a:ext cx="1024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marks a point we talk through live. The full written plan is </a:t>
            </a:r>
            <a:r>
              <a:rPr lang="en-US" sz="165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docs/onboarding.md</a:t>
            </a: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36</a:t>
            </a:r>
            <a:endParaRPr lang="en-US" sz="11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1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9080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2857500"/>
            <a:ext cx="10668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big picture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762000" y="381000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D8C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is, how it fits together, and why it is built this way.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THE PRODUCT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LorChess is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2000" y="1504950"/>
            <a:ext cx="3403600" cy="20002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6DC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504950"/>
            <a:ext cx="57150" cy="200025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6" name="Text 4"/>
          <p:cNvSpPr/>
          <p:nvPr/>
        </p:nvSpPr>
        <p:spPr>
          <a:xfrm>
            <a:off x="1028700" y="1657350"/>
            <a:ext cx="2946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3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Against </a:t>
            </a:r>
            <a:r>
              <a:rPr lang="en-US" sz="165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LorFish</a:t>
            </a: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our engine, or other people in real time. Server clocks, Elo, spectating, chat.</a:t>
            </a:r>
            <a:endParaRPr lang="en-US" sz="2030" dirty="0"/>
          </a:p>
        </p:txBody>
      </p:sp>
      <p:sp>
        <p:nvSpPr>
          <p:cNvPr id="7" name="Shape 5"/>
          <p:cNvSpPr/>
          <p:nvPr/>
        </p:nvSpPr>
        <p:spPr>
          <a:xfrm>
            <a:off x="4394200" y="1504950"/>
            <a:ext cx="3403600" cy="20002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6DCC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94200" y="1504950"/>
            <a:ext cx="57150" cy="200025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9" name="Text 7"/>
          <p:cNvSpPr/>
          <p:nvPr/>
        </p:nvSpPr>
        <p:spPr>
          <a:xfrm>
            <a:off x="4660900" y="1657350"/>
            <a:ext cx="2946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3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Variants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chess, Chess960, Atomic and Pawn Wars. Odds games with handicaps.</a:t>
            </a:r>
            <a:endParaRPr lang="en-US" sz="2030" dirty="0"/>
          </a:p>
        </p:txBody>
      </p:sp>
      <p:sp>
        <p:nvSpPr>
          <p:cNvPr id="10" name="Shape 8"/>
          <p:cNvSpPr/>
          <p:nvPr/>
        </p:nvSpPr>
        <p:spPr>
          <a:xfrm>
            <a:off x="8026400" y="1504950"/>
            <a:ext cx="3403600" cy="20002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6DC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26400" y="1504950"/>
            <a:ext cx="57150" cy="200025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12" name="Text 10"/>
          <p:cNvSpPr/>
          <p:nvPr/>
        </p:nvSpPr>
        <p:spPr>
          <a:xfrm>
            <a:off x="8293100" y="1657350"/>
            <a:ext cx="2946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3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and rated puzzles, game review with Stockfish.</a:t>
            </a:r>
            <a:endParaRPr lang="en-US" sz="2030" dirty="0"/>
          </a:p>
        </p:txBody>
      </p:sp>
      <p:sp>
        <p:nvSpPr>
          <p:cNvPr id="13" name="Shape 11"/>
          <p:cNvSpPr/>
          <p:nvPr/>
        </p:nvSpPr>
        <p:spPr>
          <a:xfrm>
            <a:off x="762000" y="3714750"/>
            <a:ext cx="340360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6DCC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2000" y="3714750"/>
            <a:ext cx="57150" cy="142875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15" name="Text 13"/>
          <p:cNvSpPr/>
          <p:nvPr/>
        </p:nvSpPr>
        <p:spPr>
          <a:xfrm>
            <a:off x="1028700" y="3867150"/>
            <a:ext cx="294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3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Friends, leaderboard, profiles, achievements.</a:t>
            </a:r>
            <a:endParaRPr lang="en-US" sz="2030" dirty="0"/>
          </a:p>
        </p:txBody>
      </p:sp>
      <p:sp>
        <p:nvSpPr>
          <p:cNvPr id="16" name="Shape 14"/>
          <p:cNvSpPr/>
          <p:nvPr/>
        </p:nvSpPr>
        <p:spPr>
          <a:xfrm>
            <a:off x="4394200" y="3714750"/>
            <a:ext cx="340360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6DCC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94200" y="3714750"/>
            <a:ext cx="57150" cy="142875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18" name="Text 16"/>
          <p:cNvSpPr/>
          <p:nvPr/>
        </p:nvSpPr>
        <p:spPr>
          <a:xfrm>
            <a:off x="4660900" y="3867150"/>
            <a:ext cx="294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3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Membership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 codes unlock member features such as game review.</a:t>
            </a:r>
            <a:endParaRPr lang="en-US" sz="2030" dirty="0"/>
          </a:p>
        </p:txBody>
      </p:sp>
      <p:sp>
        <p:nvSpPr>
          <p:cNvPr id="19" name="Shape 17"/>
          <p:cNvSpPr/>
          <p:nvPr/>
        </p:nvSpPr>
        <p:spPr>
          <a:xfrm>
            <a:off x="8026400" y="3714750"/>
            <a:ext cx="340360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6DCC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26400" y="3714750"/>
            <a:ext cx="57150" cy="142875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21" name="Text 19"/>
          <p:cNvSpPr/>
          <p:nvPr/>
        </p:nvSpPr>
        <p:spPr>
          <a:xfrm>
            <a:off x="8293100" y="3867150"/>
            <a:ext cx="294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3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lorchess.lorand77.dev</a:t>
            </a:r>
            <a:endParaRPr lang="en-US" sz="2030" dirty="0"/>
          </a:p>
        </p:txBody>
      </p:sp>
      <p:sp>
        <p:nvSpPr>
          <p:cNvPr id="22" name="Shape 20"/>
          <p:cNvSpPr/>
          <p:nvPr/>
        </p:nvSpPr>
        <p:spPr>
          <a:xfrm>
            <a:off x="762000" y="5334000"/>
            <a:ext cx="10668000" cy="857250"/>
          </a:xfrm>
          <a:prstGeom prst="roundRect">
            <a:avLst>
              <a:gd name="adj" fmla="val 11111"/>
            </a:avLst>
          </a:prstGeom>
          <a:solidFill>
            <a:srgbClr val="F0D9B5"/>
          </a:solidFill>
          <a:ln/>
        </p:spPr>
      </p:sp>
      <p:sp>
        <p:nvSpPr>
          <p:cNvPr id="23" name="Text 21"/>
          <p:cNvSpPr/>
          <p:nvPr/>
        </p:nvSpPr>
        <p:spPr>
          <a:xfrm>
            <a:off x="971550" y="5467350"/>
            <a:ext cx="102489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Who uses it, how many, and what matters to them. Production means real users, real games in progress and real personal data: mistakes are visible.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36</a:t>
            </a:r>
            <a:endParaRPr lang="en-US" sz="11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THE SYSTEM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request, end to end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04950"/>
            <a:ext cx="10668000" cy="2495550"/>
          </a:xfrm>
          <a:prstGeom prst="roundRect">
            <a:avLst>
              <a:gd name="adj" fmla="val 4580"/>
            </a:avLst>
          </a:prstGeom>
          <a:solidFill>
            <a:srgbClr val="312E2B"/>
          </a:solidFill>
          <a:ln/>
        </p:spPr>
        <p:txBody>
          <a:bodyPr wrap="square" lIns="285750" tIns="190500" rIns="285750" bIns="1905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80" dirty="0">
                <a:solidFill>
                  <a:srgbClr val="F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──DNS (name.com)──► EC2 public IP</a:t>
            </a:r>
            <a:endParaRPr lang="en-US" sz="15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80" dirty="0">
                <a:solidFill>
                  <a:srgbClr val="F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──HTTPS :443──► Caddy (TLS, reverse proxy)</a:t>
            </a:r>
            <a:endParaRPr lang="en-US" sz="15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80" dirty="0">
                <a:solidFill>
                  <a:srgbClr val="F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──HTTP :3000──► Node process (pm2)</a:t>
            </a:r>
            <a:endParaRPr lang="en-US" sz="15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80" dirty="0">
                <a:solidFill>
                  <a:srgbClr val="F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├─ Express: static pages + REST /api/*</a:t>
            </a:r>
            <a:endParaRPr lang="en-US" sz="15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80" dirty="0">
                <a:solidFill>
                  <a:srgbClr val="F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├─ Socket.IO: live games, lobby, chat</a:t>
            </a:r>
            <a:endParaRPr lang="en-US" sz="15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80" dirty="0">
                <a:solidFill>
                  <a:srgbClr val="F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└─ better-sqlite3 ──► data/lorchess.sqlite (+WAL)</a:t>
            </a:r>
            <a:endParaRPr lang="en-US" sz="15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80" dirty="0">
                <a:solidFill>
                  <a:srgbClr val="F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nightly cron ──► backup.sh ──► Backblaze B2</a:t>
            </a:r>
            <a:endParaRPr lang="en-US" sz="1580" dirty="0"/>
          </a:p>
        </p:txBody>
      </p:sp>
      <p:sp>
        <p:nvSpPr>
          <p:cNvPr id="5" name="Text 3"/>
          <p:cNvSpPr/>
          <p:nvPr/>
        </p:nvSpPr>
        <p:spPr>
          <a:xfrm>
            <a:off x="762000" y="4191000"/>
            <a:ext cx="1066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58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server, one process, one database file. No build step, no framework, no bundler.</a:t>
            </a:r>
            <a:endParaRPr lang="en-US" sz="1580" dirty="0"/>
          </a:p>
        </p:txBody>
      </p:sp>
      <p:sp>
        <p:nvSpPr>
          <p:cNvPr id="6" name="Text 4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36</a:t>
            </a:r>
            <a:endParaRPr lang="en-US" sz="11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THE SYSTEM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code runs, where state lives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50673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3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runs in three places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server: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Node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page: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UI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browser Web Worker: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LorFish and Stockfish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58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chess rules engine runs in all three.</a:t>
            </a:r>
            <a:endParaRPr lang="en-US" sz="2030" dirty="0"/>
          </a:p>
        </p:txBody>
      </p:sp>
      <p:sp>
        <p:nvSpPr>
          <p:cNvPr id="5" name="Text 3"/>
          <p:cNvSpPr/>
          <p:nvPr/>
        </p:nvSpPr>
        <p:spPr>
          <a:xfrm>
            <a:off x="6362700" y="1524000"/>
            <a:ext cx="50673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3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lives in three places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SQLite: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users, sessions, games, moves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memory: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live rooms, matchmaking, lobby, throttle counters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browser: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its own AI games</a:t>
            </a:r>
            <a:endParaRPr lang="en-US" sz="2030" dirty="0"/>
          </a:p>
        </p:txBody>
      </p:sp>
      <p:sp>
        <p:nvSpPr>
          <p:cNvPr id="6" name="Text 4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36</a:t>
            </a:r>
            <a:endParaRPr lang="en-US" sz="11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THE SYSTEM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 map</a:t>
            </a:r>
            <a:endParaRPr lang="en-US" sz="3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5067300" cy="914400"/>
        </p:xfrm>
        <a:graphic>
          <a:graphicData uri="http://schemas.openxmlformats.org/drawingml/2006/table">
            <a:tbl>
              <a:tblPr/>
              <a:tblGrid>
                <a:gridCol w="1619250"/>
                <a:gridCol w="34480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8A5A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server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8A5A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src/shared/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shared with the browser: rules, engine, catalogues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8A5A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public/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HTML pages and browser code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8A5A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test/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unit and integration tests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8A5A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scripts/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ops scripts (backup)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62700" y="1524000"/>
          <a:ext cx="5067300" cy="914400"/>
        </p:xfrm>
        <a:graphic>
          <a:graphicData uri="http://schemas.openxmlformats.org/drawingml/2006/table">
            <a:tbl>
              <a:tblPr/>
              <a:tblGrid>
                <a:gridCol w="2495550"/>
                <a:gridCol w="25717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8A5A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docs/design.md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8A5A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docs/setup.md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to run</a:t>
                      </a: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and deploy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8A5A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docs/CLAUDE.md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rules</a:t>
                      </a: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for working in the repo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8A5A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docs/licenses.md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third-party licenses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7" name="Text 3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36</a:t>
            </a:r>
            <a:endParaRPr lang="en-US" sz="11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DECISIONS AND TRADE-OFFS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is built, and the price</a:t>
            </a:r>
            <a:endParaRPr lang="en-US" sz="3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04950"/>
          <a:ext cx="10668000" cy="914400"/>
        </p:xfrm>
        <a:graphic>
          <a:graphicData uri="http://schemas.openxmlformats.org/drawingml/2006/table">
            <a:tbl>
              <a:tblPr/>
              <a:tblGrid>
                <a:gridCol w="2952750"/>
                <a:gridCol w="314325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F0D9B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Decision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12E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F0D9B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Buys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12E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F0D9B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Costs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12E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monolith, one process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Simple to reason about, deploy and debug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In-memory state only works with exactly one process; two would need shared state (e.g. a Socket.IO Redis adapter)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SQLite, not Postgres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database server to run; backup is one file; synchronous and fast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writer; the data is tied to one machine's disk. The schema could still move to Postgres.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framework, bundler or build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is in git is what runs; nothing to upgrade; small attack surface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More manual DOM code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6" name="Text 3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36</a:t>
            </a:r>
            <a:endParaRPr lang="en-US" sz="11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DECISIONS AND TRADE-OFFS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is built, and the price (2)</a:t>
            </a:r>
            <a:endParaRPr lang="en-US" sz="3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04950"/>
          <a:ext cx="10668000" cy="914400"/>
        </p:xfrm>
        <a:graphic>
          <a:graphicData uri="http://schemas.openxmlformats.org/drawingml/2006/table">
            <a:tbl>
              <a:tblPr/>
              <a:tblGrid>
                <a:gridCol w="2952750"/>
                <a:gridCol w="3810000"/>
                <a:gridCol w="39052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F0D9B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Decision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12E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F0D9B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Buys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12E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F0D9B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Costs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12E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~7 dependencies, on purpose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Little supply-chain risk and upgrade work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Node built-ins first; sometimes more code of our own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Server decides PvP; browser decides AI games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cheating in PvP; AI games cost the server nothing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AI-game records are trusted less (e.g. no achievements from a pasted FEN)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Heavy compute in the browser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LorFish and Stockfish cost the server nothing; the server stays small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Depends on the player's device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5334000"/>
            <a:ext cx="10668000" cy="857250"/>
          </a:xfrm>
          <a:prstGeom prst="roundRect">
            <a:avLst>
              <a:gd name="adj" fmla="val 11111"/>
            </a:avLst>
          </a:prstGeom>
          <a:solidFill>
            <a:srgbClr val="F0D9B5"/>
          </a:solidFill>
          <a:ln/>
        </p:spPr>
      </p:sp>
      <p:sp>
        <p:nvSpPr>
          <p:cNvPr id="6" name="Text 3"/>
          <p:cNvSpPr/>
          <p:nvPr/>
        </p:nvSpPr>
        <p:spPr>
          <a:xfrm>
            <a:off x="971550" y="5467350"/>
            <a:ext cx="102489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If users grow 10×, what breaks first, and what would you change? Which decisions were deliberate from day one, and which were learned the hard way?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8" name="Text 5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36</a:t>
            </a:r>
            <a:endParaRPr lang="en-US" sz="11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IDEA TO PRODUCTION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 change ships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04950"/>
            <a:ext cx="704850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466850" y="150495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47850" y="1504950"/>
            <a:ext cx="914400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762250" y="150495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143250" y="1504950"/>
            <a:ext cx="1543050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+ tests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686300" y="150495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67300" y="1504950"/>
            <a:ext cx="1123950" cy="438150"/>
          </a:xfrm>
          <a:prstGeom prst="roundRect">
            <a:avLst>
              <a:gd name="adj" fmla="val 17391"/>
            </a:avLst>
          </a:prstGeom>
          <a:solidFill>
            <a:srgbClr val="B58863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test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191250" y="150495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72250" y="1504950"/>
            <a:ext cx="914400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486650" y="150495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67650" y="1504950"/>
            <a:ext cx="1647825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 to main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515475" y="150495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2000" y="2076450"/>
            <a:ext cx="2171700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pull on server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933700" y="207645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14700" y="2076450"/>
            <a:ext cx="1438275" cy="438150"/>
          </a:xfrm>
          <a:prstGeom prst="roundRect">
            <a:avLst>
              <a:gd name="adj" fmla="val 17391"/>
            </a:avLst>
          </a:prstGeom>
          <a:solidFill>
            <a:srgbClr val="B58863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pm2 restart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62000" y="2800350"/>
            <a:ext cx="50673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3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do not have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CI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staging environment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automated deploy</a:t>
            </a:r>
            <a:endParaRPr lang="en-US" sz="2030" dirty="0"/>
          </a:p>
        </p:txBody>
      </p:sp>
      <p:sp>
        <p:nvSpPr>
          <p:cNvPr id="20" name="Text 18"/>
          <p:cNvSpPr/>
          <p:nvPr/>
        </p:nvSpPr>
        <p:spPr>
          <a:xfrm>
            <a:off x="6362700" y="2800350"/>
            <a:ext cx="50673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3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the discipline is manual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run locally, every time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Deploys are deliberate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container and server run the same Ubuntu 26.04</a:t>
            </a:r>
            <a:endParaRPr lang="en-US" sz="2030" dirty="0"/>
          </a:p>
        </p:txBody>
      </p:sp>
      <p:sp>
        <p:nvSpPr>
          <p:cNvPr id="21" name="Text 19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36</a:t>
            </a:r>
            <a:endParaRPr lang="en-US" sz="11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1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9080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2857500"/>
            <a:ext cx="10668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and code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762000" y="381000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D8C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Node, Express, SQLite, Socket.IO, the shared engine, the front end, security, tests.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NODE ESSENTIALS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thread, an event loop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0668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Blocking code freezes </a:t>
            </a: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that is why LorFish runs in a Web Worker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better-sqlite3 throws synchronously: an unguarded socket handler would take the process and every live game down, so </a:t>
            </a: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handler has a try/catch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CommonJS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the module cache: the database path is fixed when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src/db/index.js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first loads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npm, the lockfile, native modules and why they need a rebuild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Built-ins replace packages: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--env-file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--watch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--test</a:t>
            </a:r>
            <a:endParaRPr lang="en-US" sz="1880" dirty="0"/>
          </a:p>
        </p:txBody>
      </p:sp>
      <p:sp>
        <p:nvSpPr>
          <p:cNvPr id="5" name="Text 3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36</a:t>
            </a:r>
            <a:endParaRPr lang="en-US" sz="11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· HTTP AND EXPRESS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middleware chain: </a:t>
            </a:r>
            <a:r>
              <a:rPr lang="en-US" sz="3300" b="1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src/app.js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50673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2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 proxy</a:t>
            </a: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one hop (Caddy)</a:t>
            </a:r>
            <a:endParaRPr lang="en-US" sz="1650" dirty="0"/>
          </a:p>
          <a:p>
            <a:pPr marL="285750" indent="-285750">
              <a:lnSpc>
                <a:spcPct val="112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165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express.json()</a:t>
            </a:r>
            <a:endParaRPr lang="en-US" sz="1650" dirty="0"/>
          </a:p>
          <a:p>
            <a:pPr marL="285750" indent="-285750">
              <a:lnSpc>
                <a:spcPct val="112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middleware</a:t>
            </a:r>
            <a:endParaRPr lang="en-US" sz="1650" dirty="0"/>
          </a:p>
          <a:p>
            <a:pPr marL="285750" indent="-285750">
              <a:lnSpc>
                <a:spcPct val="112000"/>
              </a:lnSpc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routers at </a:t>
            </a:r>
            <a:r>
              <a:rPr lang="en-US" sz="165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/api/&lt;area&gt;</a:t>
            </a:r>
            <a:endParaRPr lang="en-US" sz="1650" dirty="0"/>
          </a:p>
          <a:p>
            <a:pPr marL="285750" indent="-285750">
              <a:lnSpc>
                <a:spcPct val="112000"/>
              </a:lnSpc>
              <a:spcAft>
                <a:spcPts val="600"/>
              </a:spcAft>
              <a:buSzPct val="100000"/>
              <a:buFont typeface="+mj-lt"/>
              <a:buAutoNum type="arabicPeriod" startAt="5"/>
            </a:pPr>
            <a:r>
              <a:rPr lang="en-US" sz="165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/js</a:t>
            </a: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← </a:t>
            </a:r>
            <a:r>
              <a:rPr lang="en-US" sz="165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src/shared/</a:t>
            </a:r>
            <a:endParaRPr lang="en-US" sz="1650" dirty="0"/>
          </a:p>
          <a:p>
            <a:pPr marL="285750" indent="-285750">
              <a:lnSpc>
                <a:spcPct val="112000"/>
              </a:lnSpc>
              <a:spcAft>
                <a:spcPts val="600"/>
              </a:spcAft>
              <a:buSzPct val="100000"/>
              <a:buFont typeface="+mj-lt"/>
              <a:buAutoNum type="arabicPeriod" startAt="6"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redirects for old pages</a:t>
            </a:r>
            <a:endParaRPr lang="en-US" sz="1650" dirty="0"/>
          </a:p>
          <a:p>
            <a:pPr marL="285750" indent="-285750">
              <a:lnSpc>
                <a:spcPct val="112000"/>
              </a:lnSpc>
              <a:spcAft>
                <a:spcPts val="600"/>
              </a:spcAft>
              <a:buSzPct val="100000"/>
              <a:buFont typeface="+mj-lt"/>
              <a:buAutoNum type="arabicPeriod" startAt="7"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files from </a:t>
            </a:r>
            <a:r>
              <a:rPr lang="en-US" sz="165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public/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362700" y="1504950"/>
            <a:ext cx="506730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6DC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62700" y="1504950"/>
            <a:ext cx="57150" cy="285750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7" name="Text 5"/>
          <p:cNvSpPr/>
          <p:nvPr/>
        </p:nvSpPr>
        <p:spPr>
          <a:xfrm>
            <a:off x="6629400" y="1657350"/>
            <a:ext cx="46101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3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Trace: POST /api/login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throttle → argon2 verify → </a:t>
            </a:r>
            <a:r>
              <a:rPr lang="en-US" sz="165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session.regenerate</a:t>
            </a: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(anti-fixation) → </a:t>
            </a:r>
            <a:r>
              <a:rPr lang="en-US" sz="165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</a:t>
            </a: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stored → cookie set; the session is a row in SQLite.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58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</a:t>
            </a:r>
            <a:r>
              <a:rPr lang="en-US" sz="15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src/server.js</a:t>
            </a:r>
            <a:r>
              <a:rPr lang="en-US" sz="158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just listens; tests boot </a:t>
            </a:r>
            <a:r>
              <a:rPr lang="en-US" sz="15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r>
              <a:rPr lang="en-US" sz="158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a random port.</a:t>
            </a:r>
            <a:endParaRPr lang="en-US" sz="2030" dirty="0"/>
          </a:p>
        </p:txBody>
      </p:sp>
      <p:sp>
        <p:nvSpPr>
          <p:cNvPr id="8" name="Text 6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36</a:t>
            </a:r>
            <a:endParaRPr lang="en-US" sz="11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· DATA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with better-sqlite3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0668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 mode: the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-wal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-shm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files belong to the database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SQL is prepared statements in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src/db/queries.js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no ORM, no SQL injection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Transactions: a move, the position and both clocks are written together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Gotcha: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schema.sql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only CREATEs. A new column on an existing table needs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addColumnIfMissing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Modelling: the AI side is a real user; deactivation is a flag; deletion renames the account</a:t>
            </a:r>
            <a:endParaRPr lang="en-US" sz="1880" dirty="0"/>
          </a:p>
        </p:txBody>
      </p:sp>
      <p:sp>
        <p:nvSpPr>
          <p:cNvPr id="5" name="Shape 3"/>
          <p:cNvSpPr/>
          <p:nvPr/>
        </p:nvSpPr>
        <p:spPr>
          <a:xfrm>
            <a:off x="762000" y="5619750"/>
            <a:ext cx="10668000" cy="571500"/>
          </a:xfrm>
          <a:prstGeom prst="roundRect">
            <a:avLst>
              <a:gd name="adj" fmla="val 16667"/>
            </a:avLst>
          </a:prstGeom>
          <a:solidFill>
            <a:srgbClr val="F0D9B5"/>
          </a:solidFill>
          <a:ln/>
        </p:spPr>
      </p:sp>
      <p:sp>
        <p:nvSpPr>
          <p:cNvPr id="6" name="Text 4"/>
          <p:cNvSpPr/>
          <p:nvPr/>
        </p:nvSpPr>
        <p:spPr>
          <a:xfrm>
            <a:off x="971550" y="5753100"/>
            <a:ext cx="1024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Exercise: open the local database with </a:t>
            </a:r>
            <a:r>
              <a:rPr lang="en-US" sz="165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sqlite3</a:t>
            </a: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query it.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36</a:t>
            </a:r>
            <a:endParaRPr lang="en-US" sz="11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· REAL-TIME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 and </a:t>
            </a:r>
            <a:r>
              <a:rPr lang="en-US" sz="3300" b="1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handleMove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58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Rooms, acks and reconnects. One session cookie serves REST and the socket handshake.</a:t>
            </a:r>
            <a:endParaRPr lang="en-US" sz="1580" dirty="0"/>
          </a:p>
        </p:txBody>
      </p:sp>
      <p:sp>
        <p:nvSpPr>
          <p:cNvPr id="5" name="Text 3"/>
          <p:cNvSpPr/>
          <p:nvPr/>
        </p:nvSpPr>
        <p:spPr>
          <a:xfrm>
            <a:off x="762000" y="1943100"/>
            <a:ext cx="1438275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 a seat?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200275" y="194310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81275" y="1943100"/>
            <a:ext cx="1333500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turn?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914775" y="194310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95775" y="1943100"/>
            <a:ext cx="2381250" cy="438150"/>
          </a:xfrm>
          <a:prstGeom prst="roundRect">
            <a:avLst>
              <a:gd name="adj" fmla="val 17391"/>
            </a:avLst>
          </a:prstGeom>
          <a:solidFill>
            <a:srgbClr val="B58863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 on the server?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677025" y="194310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58025" y="1943100"/>
            <a:ext cx="1543050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charge clock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601075" y="194310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82075" y="1943100"/>
            <a:ext cx="809625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791700" y="194310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2514600"/>
            <a:ext cx="2695575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 (1 transaction)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457575" y="251460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38575" y="2514600"/>
            <a:ext cx="1228725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broadcast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067300" y="251460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48300" y="2514600"/>
            <a:ext cx="2905125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game over or re-arm timer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62000" y="3200400"/>
            <a:ext cx="1066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write fails, the room rolls back and the mover's ack fails.</a:t>
            </a:r>
            <a:endParaRPr lang="en-US" sz="1880" dirty="0"/>
          </a:p>
        </p:txBody>
      </p:sp>
      <p:sp>
        <p:nvSpPr>
          <p:cNvPr id="21" name="Shape 19"/>
          <p:cNvSpPr/>
          <p:nvPr/>
        </p:nvSpPr>
        <p:spPr>
          <a:xfrm>
            <a:off x="762000" y="5334000"/>
            <a:ext cx="10668000" cy="857250"/>
          </a:xfrm>
          <a:prstGeom prst="roundRect">
            <a:avLst>
              <a:gd name="adj" fmla="val 11111"/>
            </a:avLst>
          </a:prstGeom>
          <a:solidFill>
            <a:srgbClr val="F6E0D8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5334000"/>
            <a:ext cx="57150" cy="857250"/>
          </a:xfrm>
          <a:prstGeom prst="rect">
            <a:avLst/>
          </a:prstGeom>
          <a:solidFill>
            <a:srgbClr val="B4533A"/>
          </a:solidFill>
          <a:ln/>
        </p:spPr>
      </p:sp>
      <p:sp>
        <p:nvSpPr>
          <p:cNvPr id="23" name="Text 21"/>
          <p:cNvSpPr/>
          <p:nvPr/>
        </p:nvSpPr>
        <p:spPr>
          <a:xfrm>
            <a:off x="1028700" y="5467350"/>
            <a:ext cx="10191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trust the client.</a:t>
            </a: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Legality, turn, clocks, time control, variant, handicap and the premove flag are all decided or re-checked on the server.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36</a:t>
            </a:r>
            <a:endParaRPr lang="en-US" sz="11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· THE SHARED ENGINE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file, three runtimes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50673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src/shared/chess.js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the rules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src/shared/lorfish.js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our engine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Loaded as a browser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by a Worker's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importScripts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by Node's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the </a:t>
            </a: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UMD tail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makes that work</a:t>
            </a:r>
            <a:endParaRPr lang="en-US" sz="1880" dirty="0"/>
          </a:p>
        </p:txBody>
      </p:sp>
      <p:sp>
        <p:nvSpPr>
          <p:cNvPr id="5" name="Text 3"/>
          <p:cNvSpPr/>
          <p:nvPr/>
        </p:nvSpPr>
        <p:spPr>
          <a:xfrm>
            <a:off x="6362700" y="1524000"/>
            <a:ext cx="50673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Catalogues are </a:t>
            </a: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allowlists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time controls, variants, handicaps, achievements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Positions are rebuilt by </a:t>
            </a: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replaying moves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never by loading a FEN (repetition, Chess960 castling)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Stockfish: vendored WASM, game review only, </a:t>
            </a: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edited</a:t>
            </a:r>
            <a:endParaRPr lang="en-US" sz="1880" dirty="0"/>
          </a:p>
        </p:txBody>
      </p:sp>
      <p:sp>
        <p:nvSpPr>
          <p:cNvPr id="6" name="Text 4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36</a:t>
            </a:r>
            <a:endParaRPr lang="en-US" sz="11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· THE FRONT END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 JavaScript, one page at a time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06680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HTML page, one script in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public/js/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ui.js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never calls the engine or the socket: it talks to a </a:t>
            </a: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source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(AI, remote, spectator)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move goes through one path: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env.applyMove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authGuard.js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a convenience redirect, </a:t>
            </a: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security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DevTools: Network, WebSocket frames, Console</a:t>
            </a:r>
            <a:endParaRPr lang="en-US" sz="1880" dirty="0"/>
          </a:p>
        </p:txBody>
      </p:sp>
      <p:sp>
        <p:nvSpPr>
          <p:cNvPr id="5" name="Text 3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36</a:t>
            </a:r>
            <a:endParaRPr lang="en-US" sz="11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· SECURITY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Defence in layers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50673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argon2: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slow on purpose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Throttle: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per IP, plus a global cap on hashes in flight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Cookie: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httpOnly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sameSite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via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 proxy</a:t>
            </a:r>
            <a:endParaRPr lang="en-US" sz="1880" dirty="0"/>
          </a:p>
        </p:txBody>
      </p:sp>
      <p:sp>
        <p:nvSpPr>
          <p:cNvPr id="5" name="Text 3"/>
          <p:cNvSpPr/>
          <p:nvPr/>
        </p:nvSpPr>
        <p:spPr>
          <a:xfrm>
            <a:off x="6362700" y="1524000"/>
            <a:ext cx="50673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Username policy: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one generic message, so the lists cannot be probed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page: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its promises are tied to code and config, and change in the same commit</a:t>
            </a:r>
            <a:endParaRPr lang="en-US" sz="1880" dirty="0"/>
          </a:p>
        </p:txBody>
      </p:sp>
      <p:sp>
        <p:nvSpPr>
          <p:cNvPr id="6" name="Text 4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36</a:t>
            </a:r>
            <a:endParaRPr lang="en-US" sz="11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· TESTING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--test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0668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Unit: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pure modules such as the rules, Elo and the catalogues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Integration: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real app on a random port with a throwaway database (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test/helpers/server.js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about 20 s ·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test:deep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full perft and puzzles ·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TEST_LOG=1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shows server logs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test:coverage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fails below 98 / 91 / 97 % (lines / branches / functions)</a:t>
            </a:r>
            <a:endParaRPr lang="en-US" sz="1880" dirty="0"/>
          </a:p>
        </p:txBody>
      </p:sp>
      <p:sp>
        <p:nvSpPr>
          <p:cNvPr id="5" name="Shape 3"/>
          <p:cNvSpPr/>
          <p:nvPr/>
        </p:nvSpPr>
        <p:spPr>
          <a:xfrm>
            <a:off x="762000" y="5619750"/>
            <a:ext cx="10668000" cy="571500"/>
          </a:xfrm>
          <a:prstGeom prst="roundRect">
            <a:avLst>
              <a:gd name="adj" fmla="val 16667"/>
            </a:avLst>
          </a:prstGeom>
          <a:solidFill>
            <a:srgbClr val="F0D9B5"/>
          </a:solidFill>
          <a:ln/>
        </p:spPr>
      </p:sp>
      <p:sp>
        <p:nvSpPr>
          <p:cNvPr id="6" name="Text 4"/>
          <p:cNvSpPr/>
          <p:nvPr/>
        </p:nvSpPr>
        <p:spPr>
          <a:xfrm>
            <a:off x="971550" y="5753100"/>
            <a:ext cx="1024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Exercise: write one integration test for an existing endpoint.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/ 36</a:t>
            </a:r>
            <a:endParaRPr lang="en-US" sz="113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· CONVENTIONS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 write code here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0668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CommonJS,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 strict"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double quotes, semicolons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module opens with a comment saying what it does and why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new dependencies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without asking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Short, imperative commit subjects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design change updates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docs/design.md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the same commit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tools are welcome; </a:t>
            </a: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own what you commit</a:t>
            </a:r>
            <a:endParaRPr lang="en-US" sz="1880" dirty="0"/>
          </a:p>
        </p:txBody>
      </p:sp>
      <p:sp>
        <p:nvSpPr>
          <p:cNvPr id="5" name="Text 3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/ 36</a:t>
            </a:r>
            <a:endParaRPr lang="en-US" sz="11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9080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2857500"/>
            <a:ext cx="10668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762000" y="381000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D8C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it runs, why there, and how we keep it alive.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· HOSTING CHOICES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app needs from a host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447800"/>
            <a:ext cx="1066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58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long-running process, long-lived WebSockets, a local disk for SQLite.</a:t>
            </a:r>
            <a:endParaRPr lang="en-US" sz="158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66900"/>
          <a:ext cx="10668000" cy="914400"/>
        </p:xfrm>
        <a:graphic>
          <a:graphicData uri="http://schemas.openxmlformats.org/drawingml/2006/table">
            <a:tbl>
              <a:tblPr/>
              <a:tblGrid>
                <a:gridCol w="3048000"/>
                <a:gridCol w="666750"/>
                <a:gridCol w="69532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F0D9B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Option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12E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F0D9B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Fit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12E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F0D9B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12E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Serverless (Lambda, Vercel)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long-lived WebSockets, no local disk, no in-memory rooms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PaaS (Railway, Render)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⚠️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Works with a persistent volume, but less control. </a:t>
                      </a:r>
                      <a:r>
                        <a:rPr lang="en-US" sz="1580" b="1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LorChess ran on Railway before.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Containers / Kubernetes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Far too much machinery for one process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VPS / IaaS (EC2, Hetzner)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process, a local disk, full control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5619750"/>
            <a:ext cx="10668000" cy="571500"/>
          </a:xfrm>
          <a:prstGeom prst="roundRect">
            <a:avLst>
              <a:gd name="adj" fmla="val 16667"/>
            </a:avLst>
          </a:prstGeom>
          <a:solidFill>
            <a:srgbClr val="F0D9B5"/>
          </a:solidFill>
          <a:ln/>
        </p:spPr>
      </p:sp>
      <p:sp>
        <p:nvSpPr>
          <p:cNvPr id="7" name="Text 4"/>
          <p:cNvSpPr/>
          <p:nvPr/>
        </p:nvSpPr>
        <p:spPr>
          <a:xfrm>
            <a:off x="971550" y="5753100"/>
            <a:ext cx="1024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Why we left Railway for EC2 in summer 2026, and why AWS rather than Lightsail or Hetzner.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9" name="Text 6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 / 36</a:t>
            </a:r>
            <a:endParaRPr lang="en-US" sz="11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· HOSTING CHOICES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EC2 t4g.small, Ubuntu 26.04 LTS</a:t>
            </a:r>
            <a:endParaRPr lang="en-US" sz="3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04950"/>
          <a:ext cx="10668000" cy="914400"/>
        </p:xfrm>
        <a:graphic>
          <a:graphicData uri="http://schemas.openxmlformats.org/drawingml/2006/table">
            <a:tbl>
              <a:tblPr/>
              <a:tblGrid>
                <a:gridCol w="1238250"/>
                <a:gridCol w="1905000"/>
                <a:gridCol w="75247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F0D9B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Resource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12E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F0D9B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Size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12E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F0D9B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it shows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12E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CPU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vCPU, ARM (Graviton)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8A5A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HASH_MAX_CONCURRENT=2</a:t>
                      </a: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 ARM is cheaper per vCPU; native modules must be </a:t>
                      </a:r>
                      <a:r>
                        <a:rPr lang="en-US" sz="1580" b="1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compiled on the server</a:t>
                      </a: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never copied from a laptop.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RAM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GB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Node, Caddy and in-memory rooms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b="1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Disk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 GB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0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Database, ~300 MB puzzle import, 7 days of backups, logs, OS updates. </a:t>
                      </a:r>
                      <a:r>
                        <a:rPr lang="en-US" sz="1580" b="1" dirty="0">
                          <a:solidFill>
                            <a:srgbClr val="2B27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resource to watch.</a:t>
                      </a:r>
                      <a:endParaRPr lang="en-US" sz="15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33350" marR="13335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EAD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4286250"/>
            <a:ext cx="1066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Ubuntu LTS:</a:t>
            </a:r>
            <a:r>
              <a:rPr lang="en-US" sz="15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long security support, </a:t>
            </a:r>
            <a:r>
              <a:rPr lang="en-US" sz="15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</a:t>
            </a:r>
            <a:r>
              <a:rPr lang="en-US" sz="15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 most documentation, same OS as the dev container</a:t>
            </a:r>
            <a:endParaRPr lang="en-US" sz="1580" dirty="0"/>
          </a:p>
          <a:p>
            <a:pPr marL="247650" indent="-24765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from NodeSource:</a:t>
            </a:r>
            <a:r>
              <a:rPr lang="en-US" sz="15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Ubuntu's own package lags; NodeSource gives exactly Node 24 LTS</a:t>
            </a:r>
            <a:endParaRPr lang="en-US" sz="1580" dirty="0"/>
          </a:p>
        </p:txBody>
      </p:sp>
      <p:sp>
        <p:nvSpPr>
          <p:cNvPr id="6" name="Text 3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7" name="Text 4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 / 36</a:t>
            </a:r>
            <a:endParaRPr lang="en-US" sz="113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· ANATOMY OF THE SERVER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and files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50673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3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SSH with a key as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(has sudo)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as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lorchess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(no sudo)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compromised app gets one user's files, </a:t>
            </a: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the machine</a:t>
            </a:r>
            <a:endParaRPr lang="en-US" sz="2030" dirty="0"/>
          </a:p>
        </p:txBody>
      </p:sp>
      <p:sp>
        <p:nvSpPr>
          <p:cNvPr id="5" name="Text 3"/>
          <p:cNvSpPr/>
          <p:nvPr/>
        </p:nvSpPr>
        <p:spPr>
          <a:xfrm>
            <a:off x="6362700" y="1524000"/>
            <a:ext cx="50673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3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Filesystem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/home/lorchess/lorchess</a:t>
            </a:r>
            <a:r>
              <a:rPr lang="en-US" sz="15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the git checkout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r>
              <a:rPr lang="en-US" sz="15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database + </a:t>
            </a:r>
            <a:r>
              <a:rPr lang="en-US" sz="15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-wal</a:t>
            </a:r>
            <a:r>
              <a:rPr lang="en-US" sz="15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5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-shm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/home/lorchess/backups/</a:t>
            </a:r>
            <a:r>
              <a:rPr lang="en-US" sz="15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local backups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r>
              <a:rPr lang="en-US" sz="15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r>
              <a:rPr lang="en-US" sz="15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600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/etc/caddy/Caddyfile</a:t>
            </a:r>
            <a:r>
              <a:rPr lang="en-US" sz="15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the proxy</a:t>
            </a:r>
            <a:endParaRPr lang="en-US" sz="2030" dirty="0"/>
          </a:p>
        </p:txBody>
      </p:sp>
      <p:sp>
        <p:nvSpPr>
          <p:cNvPr id="6" name="Text 4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/ 36</a:t>
            </a:r>
            <a:endParaRPr lang="en-US" sz="113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· ANATOMY OF THE SERVER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Processes and network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50673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3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runs what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systemd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runs Caddy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pm2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runs Node: restarts on crash, keeps logs, starts after reboot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runs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backup.sh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at 03:00</a:t>
            </a:r>
            <a:endParaRPr lang="en-US" sz="2030" dirty="0"/>
          </a:p>
        </p:txBody>
      </p:sp>
      <p:sp>
        <p:nvSpPr>
          <p:cNvPr id="5" name="Text 3"/>
          <p:cNvSpPr/>
          <p:nvPr/>
        </p:nvSpPr>
        <p:spPr>
          <a:xfrm>
            <a:off x="6362700" y="1524000"/>
            <a:ext cx="50673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3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 A record at name.com → instance IP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Open: </a:t>
            </a: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22, 80, 443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Port </a:t>
            </a: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3000 stays closed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the throttle trusts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X-Forwarded-For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only because Caddy is the sole way in.</a:t>
            </a:r>
            <a:endParaRPr lang="en-US" sz="203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Caddy gets and renews Let's Encrypt certificates (port 80)</a:t>
            </a:r>
            <a:endParaRPr lang="en-US" sz="2030" dirty="0"/>
          </a:p>
        </p:txBody>
      </p:sp>
      <p:sp>
        <p:nvSpPr>
          <p:cNvPr id="6" name="Shape 4"/>
          <p:cNvSpPr/>
          <p:nvPr/>
        </p:nvSpPr>
        <p:spPr>
          <a:xfrm>
            <a:off x="762000" y="5619750"/>
            <a:ext cx="10668000" cy="571500"/>
          </a:xfrm>
          <a:prstGeom prst="roundRect">
            <a:avLst>
              <a:gd name="adj" fmla="val 16667"/>
            </a:avLst>
          </a:prstGeom>
          <a:solidFill>
            <a:srgbClr val="F0D9B5"/>
          </a:solidFill>
          <a:ln/>
        </p:spPr>
      </p:sp>
      <p:sp>
        <p:nvSpPr>
          <p:cNvPr id="7" name="Text 5"/>
          <p:cNvSpPr/>
          <p:nvPr/>
        </p:nvSpPr>
        <p:spPr>
          <a:xfrm>
            <a:off x="971550" y="5753100"/>
            <a:ext cx="1024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Is the IP an Elastic IP? If not, a stop and start changes it and DNS breaks.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/ 36</a:t>
            </a:r>
            <a:endParaRPr lang="en-US" sz="11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· RUNNING IT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 and secrets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0668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holds only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SESSION_SECRET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NODE_ENV=production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else has a default in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src/config.js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Rotating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SESSION_SECRET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logs </a:t>
            </a: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everyone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out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NODE_ENV=production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hides stack traces from responses</a:t>
            </a:r>
            <a:endParaRPr lang="en-US" sz="1880" dirty="0"/>
          </a:p>
        </p:txBody>
      </p:sp>
      <p:sp>
        <p:nvSpPr>
          <p:cNvPr id="5" name="Shape 3"/>
          <p:cNvSpPr/>
          <p:nvPr/>
        </p:nvSpPr>
        <p:spPr>
          <a:xfrm>
            <a:off x="762000" y="5619750"/>
            <a:ext cx="10668000" cy="571500"/>
          </a:xfrm>
          <a:prstGeom prst="roundRect">
            <a:avLst>
              <a:gd name="adj" fmla="val 16667"/>
            </a:avLst>
          </a:prstGeom>
          <a:solidFill>
            <a:srgbClr val="F6E0D8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5619750"/>
            <a:ext cx="57150" cy="571500"/>
          </a:xfrm>
          <a:prstGeom prst="rect">
            <a:avLst/>
          </a:prstGeom>
          <a:solidFill>
            <a:srgbClr val="B4533A"/>
          </a:solidFill>
          <a:ln/>
        </p:spPr>
      </p:sp>
      <p:sp>
        <p:nvSpPr>
          <p:cNvPr id="7" name="Text 5"/>
          <p:cNvSpPr/>
          <p:nvPr/>
        </p:nvSpPr>
        <p:spPr>
          <a:xfrm>
            <a:off x="1028700" y="5753100"/>
            <a:ext cx="1019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commit the secret, and never paste it into chat or AI tools.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 / 36</a:t>
            </a:r>
            <a:endParaRPr lang="en-US" sz="113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· RUNNING IT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 deploy does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04950"/>
            <a:ext cx="1123950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pull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885950" y="150495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66950" y="1504950"/>
            <a:ext cx="1438275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install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705225" y="150495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086225" y="1504950"/>
            <a:ext cx="2381250" cy="438150"/>
          </a:xfrm>
          <a:prstGeom prst="roundRect">
            <a:avLst>
              <a:gd name="adj" fmla="val 17391"/>
            </a:avLst>
          </a:prstGeom>
          <a:solidFill>
            <a:srgbClr val="B58863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pm2 restart lorchess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62000" y="2209800"/>
            <a:ext cx="106680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socket drops.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Live PvP games are rebuilt from the database when players return; those not resumed within 10 min are aborted. </a:t>
            </a: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at quiet times.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changes run at boot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through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addColumnIfMissing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add-only, so rollback is safe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Rollback: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&lt;previous&gt;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then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pm2 restart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native module versions change, a rebuild may be needed</a:t>
            </a:r>
            <a:endParaRPr lang="en-US" sz="1880" dirty="0"/>
          </a:p>
        </p:txBody>
      </p:sp>
      <p:sp>
        <p:nvSpPr>
          <p:cNvPr id="10" name="Text 8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 / 36</a:t>
            </a:r>
            <a:endParaRPr lang="en-US" sz="113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· RUNNING IT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commands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50673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user:password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user:deactivate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user:reactivate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user:delete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the owner first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("change your board colours to a value I name")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promo:new</a:t>
            </a:r>
            <a:endParaRPr lang="en-US" sz="1880" dirty="0"/>
          </a:p>
          <a:p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58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while the app runs. Run as </a:t>
            </a:r>
            <a:r>
              <a:rPr lang="en-US" sz="15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lorchess</a:t>
            </a:r>
            <a:r>
              <a:rPr lang="en-US" sz="158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the project directory, so </a:t>
            </a:r>
            <a:r>
              <a:rPr lang="en-US" sz="15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r>
              <a:rPr lang="en-US" sz="158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picked up.</a:t>
            </a:r>
            <a:endParaRPr lang="en-US" sz="1880" dirty="0"/>
          </a:p>
        </p:txBody>
      </p:sp>
      <p:sp>
        <p:nvSpPr>
          <p:cNvPr id="5" name="Shape 3"/>
          <p:cNvSpPr/>
          <p:nvPr/>
        </p:nvSpPr>
        <p:spPr>
          <a:xfrm>
            <a:off x="6362700" y="1524000"/>
            <a:ext cx="5067300" cy="1428750"/>
          </a:xfrm>
          <a:prstGeom prst="roundRect">
            <a:avLst>
              <a:gd name="adj" fmla="val 6667"/>
            </a:avLst>
          </a:prstGeom>
          <a:solidFill>
            <a:srgbClr val="F6E0D8"/>
          </a:solidFill>
          <a:ln/>
        </p:spPr>
      </p:sp>
      <p:sp>
        <p:nvSpPr>
          <p:cNvPr id="6" name="Shape 4"/>
          <p:cNvSpPr/>
          <p:nvPr/>
        </p:nvSpPr>
        <p:spPr>
          <a:xfrm>
            <a:off x="6362700" y="1524000"/>
            <a:ext cx="57150" cy="1428750"/>
          </a:xfrm>
          <a:prstGeom prst="rect">
            <a:avLst/>
          </a:prstGeom>
          <a:solidFill>
            <a:srgbClr val="B4533A"/>
          </a:solidFill>
          <a:ln/>
        </p:spPr>
      </p:sp>
      <p:sp>
        <p:nvSpPr>
          <p:cNvPr id="7" name="Text 5"/>
          <p:cNvSpPr/>
          <p:nvPr/>
        </p:nvSpPr>
        <p:spPr>
          <a:xfrm>
            <a:off x="6629400" y="1657350"/>
            <a:ext cx="459105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against production:</a:t>
            </a: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65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db:reset</a:t>
            </a: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6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puzzles:import</a:t>
            </a: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downloads ~300 MB: only after asking.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 / 36</a:t>
            </a:r>
            <a:endParaRPr lang="en-US" sz="113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· DATA SAFETY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04950"/>
            <a:ext cx="1333500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 03:00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2095500" y="150495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476500" y="1504950"/>
            <a:ext cx="1438275" cy="438150"/>
          </a:xfrm>
          <a:prstGeom prst="roundRect">
            <a:avLst>
              <a:gd name="adj" fmla="val 17391"/>
            </a:avLst>
          </a:prstGeom>
          <a:solidFill>
            <a:srgbClr val="B58863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VACUUM INTO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914775" y="150495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95775" y="1504950"/>
            <a:ext cx="2276475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copy (7 days)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572250" y="150495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53250" y="1504950"/>
            <a:ext cx="2486025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rclone → B2 (30 days)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62000" y="2209800"/>
            <a:ext cx="10668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VACUUM INTO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gives a consistent copy while the app keeps writing. Why is </a:t>
            </a:r>
            <a:r>
              <a:rPr lang="en-US" sz="188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a live WAL database wrong?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we can lose: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up to about 24 hours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to recover:</a:t>
            </a: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however long a restore takes</a:t>
            </a:r>
            <a:endParaRPr lang="en-US" sz="1880" dirty="0"/>
          </a:p>
        </p:txBody>
      </p:sp>
      <p:sp>
        <p:nvSpPr>
          <p:cNvPr id="12" name="Text 10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 / 36</a:t>
            </a:r>
            <a:endParaRPr lang="en-US" sz="113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· DATA SAFETY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Restore, and privacy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04950"/>
            <a:ext cx="1123950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pm2 stop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885950" y="150495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66950" y="1504950"/>
            <a:ext cx="3324225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backup over the database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591175" y="150495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72175" y="1504950"/>
            <a:ext cx="2381250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-wal and -shm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353425" y="150495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734425" y="1504950"/>
            <a:ext cx="1228725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pm2 start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62000" y="2228850"/>
            <a:ext cx="50673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DCC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2228850"/>
            <a:ext cx="57150" cy="190500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13" name="Text 11"/>
          <p:cNvSpPr/>
          <p:nvPr/>
        </p:nvSpPr>
        <p:spPr>
          <a:xfrm>
            <a:off x="1028700" y="2381250"/>
            <a:ext cx="46101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3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Restore drill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Restore last night's B2 backup into </a:t>
            </a:r>
            <a:r>
              <a:rPr lang="en-US" sz="165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dev environment</a:t>
            </a: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check it works. A backup is only known to work once a restore has been tested.</a:t>
            </a:r>
            <a:endParaRPr lang="en-US" sz="2030" dirty="0"/>
          </a:p>
        </p:txBody>
      </p:sp>
      <p:sp>
        <p:nvSpPr>
          <p:cNvPr id="14" name="Shape 12"/>
          <p:cNvSpPr/>
          <p:nvPr/>
        </p:nvSpPr>
        <p:spPr>
          <a:xfrm>
            <a:off x="6362700" y="2228850"/>
            <a:ext cx="50673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DCC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2700" y="2228850"/>
            <a:ext cx="57150" cy="190500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381250"/>
            <a:ext cx="46101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3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Backups hold personal data. The policy promises at most 90 days; deleted users leave backups by expiry. Caddy keeps no access log.</a:t>
            </a:r>
            <a:endParaRPr lang="en-US" sz="2030" dirty="0"/>
          </a:p>
        </p:txBody>
      </p:sp>
      <p:sp>
        <p:nvSpPr>
          <p:cNvPr id="17" name="Text 15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/ 36</a:t>
            </a:r>
            <a:endParaRPr lang="en-US" sz="113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· KEEPING IT HEALTHY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Logs, monitoring, updates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2000" y="1504950"/>
            <a:ext cx="340360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6DC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504950"/>
            <a:ext cx="57150" cy="285750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6" name="Text 4"/>
          <p:cNvSpPr/>
          <p:nvPr/>
        </p:nvSpPr>
        <p:spPr>
          <a:xfrm>
            <a:off x="1028700" y="1657350"/>
            <a:ext cx="29464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3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pm2 logs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pm2 monit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58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Log rotation? On 8 GB, logs never rotated will fill the disk.</a:t>
            </a:r>
            <a:endParaRPr lang="en-US" sz="2030" dirty="0"/>
          </a:p>
        </p:txBody>
      </p:sp>
      <p:sp>
        <p:nvSpPr>
          <p:cNvPr id="7" name="Shape 5"/>
          <p:cNvSpPr/>
          <p:nvPr/>
        </p:nvSpPr>
        <p:spPr>
          <a:xfrm>
            <a:off x="4394200" y="1504950"/>
            <a:ext cx="340360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6DCC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94200" y="1504950"/>
            <a:ext cx="57150" cy="285750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9" name="Text 7"/>
          <p:cNvSpPr/>
          <p:nvPr/>
        </p:nvSpPr>
        <p:spPr>
          <a:xfrm>
            <a:off x="4660900" y="1657350"/>
            <a:ext cx="29464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3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Disk: </a:t>
            </a:r>
            <a:r>
              <a:rPr lang="en-US" sz="165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-h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backup log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58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Who finds out the site is down, and how? An uptime check is cheap.</a:t>
            </a:r>
            <a:endParaRPr lang="en-US" sz="2030" dirty="0"/>
          </a:p>
        </p:txBody>
      </p:sp>
      <p:sp>
        <p:nvSpPr>
          <p:cNvPr id="10" name="Shape 8"/>
          <p:cNvSpPr/>
          <p:nvPr/>
        </p:nvSpPr>
        <p:spPr>
          <a:xfrm>
            <a:off x="8026400" y="1504950"/>
            <a:ext cx="340360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6DC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26400" y="1504950"/>
            <a:ext cx="57150" cy="285750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12" name="Text 10"/>
          <p:cNvSpPr/>
          <p:nvPr/>
        </p:nvSpPr>
        <p:spPr>
          <a:xfrm>
            <a:off x="8293100" y="1657350"/>
            <a:ext cx="29464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3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Updates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Ubuntu security patches, Node versions, npm packages (7-day release age, Socket scanner)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58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unattended-upgrades?</a:t>
            </a:r>
            <a:endParaRPr lang="en-US" sz="2030" dirty="0"/>
          </a:p>
        </p:txBody>
      </p:sp>
      <p:sp>
        <p:nvSpPr>
          <p:cNvPr id="13" name="Text 11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 / 36</a:t>
            </a:r>
            <a:endParaRPr lang="en-US" sz="113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· KEEPING IT HEALTHY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happens, and what do we do?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2000" y="1504950"/>
            <a:ext cx="34036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6DC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504950"/>
            <a:ext cx="57150" cy="72390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6" name="Text 4"/>
          <p:cNvSpPr/>
          <p:nvPr/>
        </p:nvSpPr>
        <p:spPr>
          <a:xfrm>
            <a:off x="1028700" y="1657350"/>
            <a:ext cx="294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Node process crashes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4394200" y="1504950"/>
            <a:ext cx="34036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6DCC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94200" y="1504950"/>
            <a:ext cx="57150" cy="72390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9" name="Text 7"/>
          <p:cNvSpPr/>
          <p:nvPr/>
        </p:nvSpPr>
        <p:spPr>
          <a:xfrm>
            <a:off x="4660900" y="1657350"/>
            <a:ext cx="294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bad deploy goes out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026400" y="1504950"/>
            <a:ext cx="34036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6DC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26400" y="1504950"/>
            <a:ext cx="57150" cy="72390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12" name="Text 10"/>
          <p:cNvSpPr/>
          <p:nvPr/>
        </p:nvSpPr>
        <p:spPr>
          <a:xfrm>
            <a:off x="8293100" y="1657350"/>
            <a:ext cx="294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disk fills up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62000" y="2400300"/>
            <a:ext cx="34036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6DCC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2000" y="2400300"/>
            <a:ext cx="57150" cy="72390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15" name="Text 13"/>
          <p:cNvSpPr/>
          <p:nvPr/>
        </p:nvSpPr>
        <p:spPr>
          <a:xfrm>
            <a:off x="1028700" y="2552700"/>
            <a:ext cx="294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certificate fails to renew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4394200" y="2400300"/>
            <a:ext cx="34036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6DCC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94200" y="2400300"/>
            <a:ext cx="57150" cy="72390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18" name="Text 16"/>
          <p:cNvSpPr/>
          <p:nvPr/>
        </p:nvSpPr>
        <p:spPr>
          <a:xfrm>
            <a:off x="4660900" y="2552700"/>
            <a:ext cx="294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SESSION_SECRET</a:t>
            </a: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leaks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026400" y="2400300"/>
            <a:ext cx="34036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6DCC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26400" y="2400300"/>
            <a:ext cx="57150" cy="72390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21" name="Text 19"/>
          <p:cNvSpPr/>
          <p:nvPr/>
        </p:nvSpPr>
        <p:spPr>
          <a:xfrm>
            <a:off x="8293100" y="2552700"/>
            <a:ext cx="294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Someone hammers the login endpoint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762000" y="3429000"/>
            <a:ext cx="1066800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E6DCC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2000" y="3429000"/>
            <a:ext cx="57150" cy="914400"/>
          </a:xfrm>
          <a:prstGeom prst="rect">
            <a:avLst/>
          </a:prstGeom>
          <a:solidFill>
            <a:srgbClr val="B4533A"/>
          </a:solidFill>
          <a:ln/>
        </p:spPr>
      </p:sp>
      <p:sp>
        <p:nvSpPr>
          <p:cNvPr id="24" name="Text 22"/>
          <p:cNvSpPr/>
          <p:nvPr/>
        </p:nvSpPr>
        <p:spPr>
          <a:xfrm>
            <a:off x="1028700" y="3581400"/>
            <a:ext cx="10210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instance dies completely:</a:t>
            </a: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rebuild from </a:t>
            </a:r>
            <a:r>
              <a:rPr lang="en-US" sz="165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docs/setup.md</a:t>
            </a: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plus a B2 restore. That is why </a:t>
            </a:r>
            <a:r>
              <a:rPr lang="en-US" sz="165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setup.md</a:t>
            </a: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must stay accurate.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62000" y="5772150"/>
            <a:ext cx="1066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58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habit: reproduce locally → logs and stack trace → failing test → fix → deploy → a short note.</a:t>
            </a:r>
            <a:endParaRPr lang="en-US" sz="1580" dirty="0"/>
          </a:p>
        </p:txBody>
      </p:sp>
      <p:sp>
        <p:nvSpPr>
          <p:cNvPr id="26" name="Text 24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 / 36</a:t>
            </a:r>
            <a:endParaRPr lang="en-US" sz="113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· ACCESS AND RESPONSIBILITIES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Growing into production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04950"/>
            <a:ext cx="1857375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shadow a deploy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2619375" y="150495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00375" y="1504950"/>
            <a:ext cx="2695575" cy="438150"/>
          </a:xfrm>
          <a:prstGeom prst="roundRect">
            <a:avLst>
              <a:gd name="adj" fmla="val 17391"/>
            </a:avLst>
          </a:prstGeom>
          <a:solidFill>
            <a:srgbClr val="F0D9B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while supervised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695950" y="1504950"/>
            <a:ext cx="38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76950" y="1504950"/>
            <a:ext cx="1543050" cy="438150"/>
          </a:xfrm>
          <a:prstGeom prst="roundRect">
            <a:avLst>
              <a:gd name="adj" fmla="val 17391"/>
            </a:avLst>
          </a:prstGeom>
          <a:solidFill>
            <a:srgbClr val="B58863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alone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62000" y="2209800"/>
            <a:ext cx="1066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steps for the admin commands and the restore drill.</a:t>
            </a:r>
            <a:endParaRPr lang="en-US" sz="1880" dirty="0"/>
          </a:p>
        </p:txBody>
      </p:sp>
      <p:sp>
        <p:nvSpPr>
          <p:cNvPr id="10" name="Shape 8"/>
          <p:cNvSpPr/>
          <p:nvPr/>
        </p:nvSpPr>
        <p:spPr>
          <a:xfrm>
            <a:off x="762000" y="5619750"/>
            <a:ext cx="10668000" cy="571500"/>
          </a:xfrm>
          <a:prstGeom prst="roundRect">
            <a:avLst>
              <a:gd name="adj" fmla="val 16667"/>
            </a:avLst>
          </a:prstGeom>
          <a:solidFill>
            <a:srgbClr val="F0D9B5"/>
          </a:solidFill>
          <a:ln/>
        </p:spPr>
      </p:sp>
      <p:sp>
        <p:nvSpPr>
          <p:cNvPr id="11" name="Text 9"/>
          <p:cNvSpPr/>
          <p:nvPr/>
        </p:nvSpPr>
        <p:spPr>
          <a:xfrm>
            <a:off x="971550" y="5753100"/>
            <a:ext cx="1024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Which access, and when: GitHub (push to </a:t>
            </a:r>
            <a:r>
              <a:rPr lang="en-US" sz="1650" dirty="0">
                <a:solidFill>
                  <a:srgbClr val="8A5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?), SSH to production, the AWS console, B2, name.com.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 / 36</a:t>
            </a:r>
            <a:endParaRPr lang="en-US" sz="113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weeks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2000" y="1504950"/>
            <a:ext cx="3403600" cy="21907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DC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504950"/>
            <a:ext cx="57150" cy="219075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6" name="Text 4"/>
          <p:cNvSpPr/>
          <p:nvPr/>
        </p:nvSpPr>
        <p:spPr>
          <a:xfrm>
            <a:off x="1028700" y="1657350"/>
            <a:ext cx="2946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3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 (sections 1–4), Node and Express (5–6).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Exercise: a small REST change.</a:t>
            </a:r>
            <a:endParaRPr lang="en-US" sz="2030" dirty="0"/>
          </a:p>
        </p:txBody>
      </p:sp>
      <p:sp>
        <p:nvSpPr>
          <p:cNvPr id="7" name="Shape 5"/>
          <p:cNvSpPr/>
          <p:nvPr/>
        </p:nvSpPr>
        <p:spPr>
          <a:xfrm>
            <a:off x="4394200" y="1504950"/>
            <a:ext cx="3403600" cy="21907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DCC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94200" y="1504950"/>
            <a:ext cx="57150" cy="219075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9" name="Text 7"/>
          <p:cNvSpPr/>
          <p:nvPr/>
        </p:nvSpPr>
        <p:spPr>
          <a:xfrm>
            <a:off x="4660900" y="1657350"/>
            <a:ext cx="2946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3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Sections 7–13.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first real ticket.</a:t>
            </a:r>
            <a:endParaRPr lang="en-US" sz="2030" dirty="0"/>
          </a:p>
        </p:txBody>
      </p:sp>
      <p:sp>
        <p:nvSpPr>
          <p:cNvPr id="10" name="Shape 8"/>
          <p:cNvSpPr/>
          <p:nvPr/>
        </p:nvSpPr>
        <p:spPr>
          <a:xfrm>
            <a:off x="8026400" y="1504950"/>
            <a:ext cx="3403600" cy="21907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DC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26400" y="1504950"/>
            <a:ext cx="57150" cy="219075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12" name="Text 10"/>
          <p:cNvSpPr/>
          <p:nvPr/>
        </p:nvSpPr>
        <p:spPr>
          <a:xfrm>
            <a:off x="8293100" y="1657350"/>
            <a:ext cx="2946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030" b="1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3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 (sections 14–19).</a:t>
            </a:r>
            <a:endParaRPr lang="en-US" sz="20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Restore drill, shadowed deploy, failure scenarios.</a:t>
            </a:r>
            <a:endParaRPr lang="en-US" sz="2030" dirty="0"/>
          </a:p>
        </p:txBody>
      </p:sp>
      <p:sp>
        <p:nvSpPr>
          <p:cNvPr id="13" name="Text 11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 / 36</a:t>
            </a:r>
            <a:endParaRPr lang="en-US" sz="113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723900"/>
            <a:ext cx="1066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first tasks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0668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stats field from the API through to the profile page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 a branch the coverage report shows as untested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an achievement: catalogue, service, toast, backfill</a:t>
            </a:r>
            <a:endParaRPr lang="en-US" sz="1880" dirty="0"/>
          </a:p>
          <a:p>
            <a:pPr marL="247650" indent="-24765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880" dirty="0">
                <a:solidFill>
                  <a:srgbClr val="2B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Ops: write the missing runbook items from section 18 (log rotation, an uptime check)</a:t>
            </a:r>
            <a:endParaRPr lang="en-US" sz="1880" dirty="0"/>
          </a:p>
        </p:txBody>
      </p:sp>
      <p:sp>
        <p:nvSpPr>
          <p:cNvPr id="5" name="Text 3"/>
          <p:cNvSpPr/>
          <p:nvPr/>
        </p:nvSpPr>
        <p:spPr>
          <a:xfrm>
            <a:off x="762000" y="6515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LorChess · Onboarding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9525000" y="65151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rgbClr val="6F6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 / 36</a:t>
            </a:r>
            <a:endParaRPr lang="en-US" sz="113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31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495550"/>
            <a:ext cx="1066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b="1" spc="150" kern="0" dirty="0">
                <a:solidFill>
                  <a:srgbClr val="B588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1280" dirty="0"/>
          </a:p>
        </p:txBody>
      </p:sp>
      <p:sp>
        <p:nvSpPr>
          <p:cNvPr id="3" name="Text 1"/>
          <p:cNvSpPr/>
          <p:nvPr/>
        </p:nvSpPr>
        <p:spPr>
          <a:xfrm>
            <a:off x="762000" y="2762250"/>
            <a:ext cx="10668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Welcome aboard </a:t>
            </a:r>
            <a:r>
              <a:rPr lang="en-US" sz="51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♞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762000" y="3810000"/>
            <a:ext cx="1066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580" dirty="0">
                <a:solidFill>
                  <a:srgbClr val="F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docs/onboarding.md</a:t>
            </a:r>
            <a:r>
              <a:rPr lang="en-US" sz="1580" dirty="0">
                <a:solidFill>
                  <a:srgbClr val="D8C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r>
              <a:rPr lang="en-US" sz="1580" dirty="0">
                <a:solidFill>
                  <a:srgbClr val="F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docs/design.md</a:t>
            </a:r>
            <a:r>
              <a:rPr lang="en-US" sz="1580" dirty="0">
                <a:solidFill>
                  <a:srgbClr val="D8C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r>
              <a:rPr lang="en-US" sz="1580" dirty="0">
                <a:solidFill>
                  <a:srgbClr val="F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docs/setup.md</a:t>
            </a:r>
            <a:r>
              <a:rPr lang="en-US" sz="1580" dirty="0">
                <a:solidFill>
                  <a:srgbClr val="D8C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r>
              <a:rPr lang="en-US" sz="1580" dirty="0">
                <a:solidFill>
                  <a:srgbClr val="F0D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docs/CLAUDE.md</a:t>
            </a:r>
            <a:endParaRPr lang="en-US" sz="15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LorChess — Onboarding</dc:title>
  <dc:subject>Onboarding slides; the full plan is docs/onboarding.md</dc:subject>
  <dc:creator>PptxGenJS</dc:creator>
  <cp:lastModifiedBy>PptxGenJS</cp:lastModifiedBy>
  <cp:revision>1</cp:revision>
  <dcterms:created xsi:type="dcterms:W3CDTF">2026-10-03T07:36:24Z</dcterms:created>
  <dcterms:modified xsi:type="dcterms:W3CDTF">2026-10-03T07:36:24Z</dcterms:modified>
</cp:coreProperties>
</file>